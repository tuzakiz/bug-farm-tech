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9" r:id="rId2"/>
    <p:sldId id="260" r:id="rId3"/>
    <p:sldId id="256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33" d="100"/>
          <a:sy n="33" d="100"/>
        </p:scale>
        <p:origin x="3474" y="18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2802A2-182E-4017-B2DB-21983F5C43A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B8D89-4430-44BA-A0D7-A7B21C50A3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405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98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99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26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609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12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1342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940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504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83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390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A5E0E-6D55-4599-BD9F-1B1872B52908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289E6-18E8-4114-9385-B13696E28D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36050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openxmlformats.org/officeDocument/2006/relationships/hyperlink" Target="https://elblogdepicodev.blogspot.com/2012/11/como-crear-y-usar-sprites-en-paginas.html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code.makery.ch/library/html-css/part1/" TargetMode="External"/><Relationship Id="rId12" Type="http://schemas.openxmlformats.org/officeDocument/2006/relationships/image" Target="../media/image10.png"/><Relationship Id="rId17" Type="http://schemas.openxmlformats.org/officeDocument/2006/relationships/hyperlink" Target="https://fsinfo.cs.tu-dortmund.de/ags/start" TargetMode="External"/><Relationship Id="rId2" Type="http://schemas.openxmlformats.org/officeDocument/2006/relationships/image" Target="../media/image5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hyperlink" Target="https://educacionensiglo21.blogspot.com/2020/" TargetMode="External"/><Relationship Id="rId5" Type="http://schemas.openxmlformats.org/officeDocument/2006/relationships/hyperlink" Target="https://gemini.google/br/overview/gemini-live/?hl=pt-BR" TargetMode="External"/><Relationship Id="rId15" Type="http://schemas.openxmlformats.org/officeDocument/2006/relationships/hyperlink" Target="https://damiandeluca.com.ar/como-crear-funciones-con-javascript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6.jpeg"/><Relationship Id="rId9" Type="http://schemas.openxmlformats.org/officeDocument/2006/relationships/hyperlink" Target="https://www.zbw-mediatalk.eu/de/2015/09/github-und-social-coding-neue-formen-der-softwareentwicklung-und-distribution-als-chance/" TargetMode="External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zbw-mediatalk.eu/de/2015/09/github-und-social-coding-neue-formen-der-softwareentwicklung-und-distribution-als-chance/" TargetMode="External"/><Relationship Id="rId13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8.jpg"/><Relationship Id="rId12" Type="http://schemas.openxmlformats.org/officeDocument/2006/relationships/hyperlink" Target="https://elblogdepicodev.blogspot.com/2012/11/como-crear-y-usar-sprites-en-paginas.html" TargetMode="External"/><Relationship Id="rId17" Type="http://schemas.openxmlformats.org/officeDocument/2006/relationships/image" Target="../media/image1.png"/><Relationship Id="rId2" Type="http://schemas.openxmlformats.org/officeDocument/2006/relationships/image" Target="../media/image4.png"/><Relationship Id="rId16" Type="http://schemas.openxmlformats.org/officeDocument/2006/relationships/hyperlink" Target="https://fsinfo.cs.tu-dortmund.de/ags/star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de.makery.ch/library/html-css/part1/" TargetMode="Externa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10" Type="http://schemas.openxmlformats.org/officeDocument/2006/relationships/hyperlink" Target="https://educacionensiglo21.blogspot.com/2020/" TargetMode="External"/><Relationship Id="rId4" Type="http://schemas.openxmlformats.org/officeDocument/2006/relationships/hyperlink" Target="https://gemini.google/br/overview/gemini-live/?hl=pt-BR" TargetMode="External"/><Relationship Id="rId9" Type="http://schemas.openxmlformats.org/officeDocument/2006/relationships/image" Target="../media/image9.png"/><Relationship Id="rId14" Type="http://schemas.openxmlformats.org/officeDocument/2006/relationships/hyperlink" Target="https://damiandeluca.com.ar/como-crear-funciones-con-javascri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675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932">
        <p159:morph option="byObject"/>
      </p:transition>
    </mc:Choice>
    <mc:Fallback>
      <p:transition advTm="93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6835BF69-EDC8-4618-9444-68A3C2E58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981" y="1473013"/>
            <a:ext cx="3564960" cy="3521366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B26E076-4347-4D1B-A2B6-31FBBB1CA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1863" y="1449198"/>
            <a:ext cx="5108273" cy="42742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62797D2-5C54-4F6A-BE69-C8A54F193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069" y="1496828"/>
            <a:ext cx="3564959" cy="352136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1903B11-F9E6-4D2D-BCDF-65BEB0A4EE1C}"/>
              </a:ext>
            </a:extLst>
          </p:cNvPr>
          <p:cNvSpPr txBox="1"/>
          <p:nvPr/>
        </p:nvSpPr>
        <p:spPr>
          <a:xfrm>
            <a:off x="6509729" y="3045253"/>
            <a:ext cx="2768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GRUNE</a:t>
            </a:r>
          </a:p>
        </p:txBody>
      </p:sp>
    </p:spTree>
    <p:extLst>
      <p:ext uri="{BB962C8B-B14F-4D97-AF65-F5344CB8AC3E}">
        <p14:creationId xmlns:p14="http://schemas.microsoft.com/office/powerpoint/2010/main" val="2888489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73">
        <p:fade/>
      </p:transition>
    </mc:Choice>
    <mc:Fallback>
      <p:transition spd="med" advTm="27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BA79BB-0AA4-42A6-A727-04A2B8561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31" y="2040257"/>
            <a:ext cx="2811870" cy="277748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5FA2E2-600F-41D4-8ADC-7F8C51349317}"/>
              </a:ext>
            </a:extLst>
          </p:cNvPr>
          <p:cNvSpPr txBox="1"/>
          <p:nvPr/>
        </p:nvSpPr>
        <p:spPr>
          <a:xfrm>
            <a:off x="4334934" y="3048167"/>
            <a:ext cx="4004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/>
              <a:t>GRUNE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18DAD11-A9C7-4918-AB37-B53D38D44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31" y="2040257"/>
            <a:ext cx="2811600" cy="2777218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6120B8D2-CB28-496F-8B9C-3F1AF77F9B1F}"/>
              </a:ext>
            </a:extLst>
          </p:cNvPr>
          <p:cNvSpPr/>
          <p:nvPr/>
        </p:nvSpPr>
        <p:spPr>
          <a:xfrm>
            <a:off x="4372291" y="6858000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5AF6D-C847-4AE8-8B5A-95E01A84DC05}"/>
              </a:ext>
            </a:extLst>
          </p:cNvPr>
          <p:cNvSpPr txBox="1"/>
          <p:nvPr/>
        </p:nvSpPr>
        <p:spPr>
          <a:xfrm>
            <a:off x="4334934" y="6952946"/>
            <a:ext cx="40047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GRUNE.</a:t>
            </a:r>
          </a:p>
          <a:p>
            <a:r>
              <a:rPr lang="pt-BR" sz="1600" dirty="0"/>
              <a:t>Desenvolvida para demonstrar sua solidez, ser fria e objetiva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26C5CF-0B85-4749-8DD4-4D9BD014A1BA}"/>
              </a:ext>
            </a:extLst>
          </p:cNvPr>
          <p:cNvSpPr txBox="1"/>
          <p:nvPr/>
        </p:nvSpPr>
        <p:spPr>
          <a:xfrm>
            <a:off x="4334934" y="3909941"/>
            <a:ext cx="4004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DEEP PERSPECTIVE, DEEP CODE.</a:t>
            </a:r>
          </a:p>
        </p:txBody>
      </p:sp>
    </p:spTree>
    <p:extLst>
      <p:ext uri="{BB962C8B-B14F-4D97-AF65-F5344CB8AC3E}">
        <p14:creationId xmlns:p14="http://schemas.microsoft.com/office/powerpoint/2010/main" val="1080115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247">
        <p159:morph option="byObject"/>
      </p:transition>
    </mc:Choice>
    <mc:Fallback>
      <p:transition advTm="24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18DAD11-A9C7-4918-AB37-B53D38D4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31" y="381140"/>
            <a:ext cx="2811600" cy="277721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5FA2E2-600F-41D4-8ADC-7F8C51349317}"/>
              </a:ext>
            </a:extLst>
          </p:cNvPr>
          <p:cNvSpPr txBox="1"/>
          <p:nvPr/>
        </p:nvSpPr>
        <p:spPr>
          <a:xfrm>
            <a:off x="4334934" y="1389050"/>
            <a:ext cx="4004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/>
              <a:t>GRUNE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120B8D2-CB28-496F-8B9C-3F1AF77F9B1F}"/>
              </a:ext>
            </a:extLst>
          </p:cNvPr>
          <p:cNvSpPr/>
          <p:nvPr/>
        </p:nvSpPr>
        <p:spPr>
          <a:xfrm>
            <a:off x="4334934" y="2762055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5AF6D-C847-4AE8-8B5A-95E01A84DC05}"/>
              </a:ext>
            </a:extLst>
          </p:cNvPr>
          <p:cNvSpPr txBox="1"/>
          <p:nvPr/>
        </p:nvSpPr>
        <p:spPr>
          <a:xfrm>
            <a:off x="4297577" y="2857001"/>
            <a:ext cx="40047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GRUNE.</a:t>
            </a:r>
          </a:p>
          <a:p>
            <a:r>
              <a:rPr lang="pt-BR" sz="1600" dirty="0"/>
              <a:t>Desenvolvida para demonstrar sua solidez, ser fria e objetiva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26C5CF-0B85-4749-8DD4-4D9BD014A1BA}"/>
              </a:ext>
            </a:extLst>
          </p:cNvPr>
          <p:cNvSpPr txBox="1"/>
          <p:nvPr/>
        </p:nvSpPr>
        <p:spPr>
          <a:xfrm>
            <a:off x="4334934" y="2250824"/>
            <a:ext cx="4004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DEEP PERSPECTIVE, DEEP CODE.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66FCE18-08A9-40A7-8FE6-A343AEE2368D}"/>
              </a:ext>
            </a:extLst>
          </p:cNvPr>
          <p:cNvSpPr/>
          <p:nvPr/>
        </p:nvSpPr>
        <p:spPr>
          <a:xfrm>
            <a:off x="4334934" y="7565565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DA74BAD-275B-4736-867C-8940E82FC7A9}"/>
              </a:ext>
            </a:extLst>
          </p:cNvPr>
          <p:cNvSpPr txBox="1"/>
          <p:nvPr/>
        </p:nvSpPr>
        <p:spPr>
          <a:xfrm>
            <a:off x="4297577" y="7660511"/>
            <a:ext cx="40047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BUGFARM TECH.</a:t>
            </a:r>
          </a:p>
          <a:p>
            <a:r>
              <a:rPr lang="pt-BR" dirty="0"/>
              <a:t>Desenvolvida em correlação ao tema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52" y="7362111"/>
            <a:ext cx="2301377" cy="27756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7D0CA0AB-3532-47C9-B67B-2409172C4F76}"/>
              </a:ext>
            </a:extLst>
          </p:cNvPr>
          <p:cNvSpPr txBox="1"/>
          <p:nvPr/>
        </p:nvSpPr>
        <p:spPr>
          <a:xfrm>
            <a:off x="4093634" y="8437446"/>
            <a:ext cx="4004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/>
              <a:t>BUG FARM</a:t>
            </a:r>
          </a:p>
          <a:p>
            <a:pPr algn="r"/>
            <a:r>
              <a:rPr lang="pt-BR" sz="4000" b="1" dirty="0"/>
              <a:t>TECH</a:t>
            </a:r>
          </a:p>
        </p:txBody>
      </p:sp>
    </p:spTree>
    <p:extLst>
      <p:ext uri="{BB962C8B-B14F-4D97-AF65-F5344CB8AC3E}">
        <p14:creationId xmlns:p14="http://schemas.microsoft.com/office/powerpoint/2010/main" val="1400749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175">
        <p159:morph option="byObject"/>
      </p:transition>
    </mc:Choice>
    <mc:Fallback>
      <p:transition advTm="17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D18DAD11-A9C7-4918-AB37-B53D38D4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31" y="-1306260"/>
            <a:ext cx="2811600" cy="277721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5FA2E2-600F-41D4-8ADC-7F8C51349317}"/>
              </a:ext>
            </a:extLst>
          </p:cNvPr>
          <p:cNvSpPr txBox="1"/>
          <p:nvPr/>
        </p:nvSpPr>
        <p:spPr>
          <a:xfrm>
            <a:off x="4334934" y="-298350"/>
            <a:ext cx="4004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/>
              <a:t>GRUNE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120B8D2-CB28-496F-8B9C-3F1AF77F9B1F}"/>
              </a:ext>
            </a:extLst>
          </p:cNvPr>
          <p:cNvSpPr/>
          <p:nvPr/>
        </p:nvSpPr>
        <p:spPr>
          <a:xfrm>
            <a:off x="4334934" y="1074655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5AF6D-C847-4AE8-8B5A-95E01A84DC05}"/>
              </a:ext>
            </a:extLst>
          </p:cNvPr>
          <p:cNvSpPr txBox="1"/>
          <p:nvPr/>
        </p:nvSpPr>
        <p:spPr>
          <a:xfrm>
            <a:off x="4297577" y="1169601"/>
            <a:ext cx="40047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GRUNE.</a:t>
            </a:r>
          </a:p>
          <a:p>
            <a:r>
              <a:rPr lang="pt-BR" sz="1400" dirty="0"/>
              <a:t>Desenvolvida para demonstrar sua solidez, ser fria e objetiva tal SLOGAN: </a:t>
            </a:r>
            <a:r>
              <a:rPr lang="pt-BR" sz="1400" b="1" i="1" dirty="0"/>
              <a:t>DEEP PERSPECTIVE, DEEP CODE.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26C5CF-0B85-4749-8DD4-4D9BD014A1BA}"/>
              </a:ext>
            </a:extLst>
          </p:cNvPr>
          <p:cNvSpPr txBox="1"/>
          <p:nvPr/>
        </p:nvSpPr>
        <p:spPr>
          <a:xfrm>
            <a:off x="4334934" y="563424"/>
            <a:ext cx="4004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DEEP PERSPECTIVE, DEEP CODE.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66FCE18-08A9-40A7-8FE6-A343AEE2368D}"/>
              </a:ext>
            </a:extLst>
          </p:cNvPr>
          <p:cNvSpPr/>
          <p:nvPr/>
        </p:nvSpPr>
        <p:spPr>
          <a:xfrm>
            <a:off x="4334934" y="2314834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DA74BAD-275B-4736-867C-8940E82FC7A9}"/>
              </a:ext>
            </a:extLst>
          </p:cNvPr>
          <p:cNvSpPr txBox="1"/>
          <p:nvPr/>
        </p:nvSpPr>
        <p:spPr>
          <a:xfrm>
            <a:off x="4297577" y="2409780"/>
            <a:ext cx="40047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BUGFARM TECH.</a:t>
            </a:r>
          </a:p>
          <a:p>
            <a:r>
              <a:rPr lang="pt-BR" sz="1400" dirty="0"/>
              <a:t>Desenvolvida em correlação ao tema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52" y="2111380"/>
            <a:ext cx="2301377" cy="2775600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7D0CA0AB-3532-47C9-B67B-2409172C4F76}"/>
              </a:ext>
            </a:extLst>
          </p:cNvPr>
          <p:cNvSpPr txBox="1"/>
          <p:nvPr/>
        </p:nvSpPr>
        <p:spPr>
          <a:xfrm>
            <a:off x="4093634" y="3186715"/>
            <a:ext cx="40047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/>
              <a:t>BUG FARM</a:t>
            </a:r>
          </a:p>
          <a:p>
            <a:pPr algn="r"/>
            <a:r>
              <a:rPr lang="pt-BR" sz="4000" b="1" dirty="0"/>
              <a:t>TECH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7636568-21B7-4AA0-9B29-594F38F1B7B5}"/>
              </a:ext>
            </a:extLst>
          </p:cNvPr>
          <p:cNvSpPr/>
          <p:nvPr/>
        </p:nvSpPr>
        <p:spPr>
          <a:xfrm>
            <a:off x="4253488" y="7192345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28A5C15-FD1A-4E7A-8DC9-638A4F028488}"/>
              </a:ext>
            </a:extLst>
          </p:cNvPr>
          <p:cNvSpPr txBox="1"/>
          <p:nvPr/>
        </p:nvSpPr>
        <p:spPr>
          <a:xfrm>
            <a:off x="4216131" y="7287291"/>
            <a:ext cx="40047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OQUE É A BUGFARM TECH?</a:t>
            </a:r>
          </a:p>
          <a:p>
            <a:r>
              <a:rPr lang="pt-BR" sz="1400" dirty="0"/>
              <a:t>um sistema de gestão e monitoramento inteligente desenvolvido para fazendas de insetos comestíveis. O objetivo principal do projeto é unir a biotecnologia da produção de farinha </a:t>
            </a:r>
            <a:r>
              <a:rPr lang="pt-BR" sz="1400" dirty="0" err="1"/>
              <a:t>hiperproteica</a:t>
            </a:r>
            <a:r>
              <a:rPr lang="pt-BR" sz="1400" dirty="0"/>
              <a:t> com as exigências rigorosas de biossegurança e vigilância sanitária.</a:t>
            </a:r>
          </a:p>
        </p:txBody>
      </p:sp>
    </p:spTree>
    <p:extLst>
      <p:ext uri="{BB962C8B-B14F-4D97-AF65-F5344CB8AC3E}">
        <p14:creationId xmlns:p14="http://schemas.microsoft.com/office/powerpoint/2010/main" val="1262937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159">
        <p159:morph option="byObject"/>
      </p:transition>
    </mc:Choice>
    <mc:Fallback>
      <p:transition advTm="159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7D0CA0AB-3532-47C9-B67B-2409172C4F76}"/>
              </a:ext>
            </a:extLst>
          </p:cNvPr>
          <p:cNvSpPr txBox="1"/>
          <p:nvPr/>
        </p:nvSpPr>
        <p:spPr>
          <a:xfrm>
            <a:off x="6096000" y="3280000"/>
            <a:ext cx="37832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pt-BR" sz="1400" dirty="0"/>
              <a:t>BUG FARM</a:t>
            </a:r>
          </a:p>
          <a:p>
            <a:pPr algn="r"/>
            <a:r>
              <a:rPr lang="pt-BR" sz="1400" dirty="0"/>
              <a:t>TECH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18DAD11-A9C7-4918-AB37-B53D38D4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531" y="-4926152"/>
            <a:ext cx="2811600" cy="277721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5FA2E2-600F-41D4-8ADC-7F8C51349317}"/>
              </a:ext>
            </a:extLst>
          </p:cNvPr>
          <p:cNvSpPr txBox="1"/>
          <p:nvPr/>
        </p:nvSpPr>
        <p:spPr>
          <a:xfrm>
            <a:off x="4334934" y="-3918242"/>
            <a:ext cx="4004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/>
              <a:t>GRUNE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120B8D2-CB28-496F-8B9C-3F1AF77F9B1F}"/>
              </a:ext>
            </a:extLst>
          </p:cNvPr>
          <p:cNvSpPr/>
          <p:nvPr/>
        </p:nvSpPr>
        <p:spPr>
          <a:xfrm>
            <a:off x="4334934" y="-2545237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C5AF6D-C847-4AE8-8B5A-95E01A84DC05}"/>
              </a:ext>
            </a:extLst>
          </p:cNvPr>
          <p:cNvSpPr txBox="1"/>
          <p:nvPr/>
        </p:nvSpPr>
        <p:spPr>
          <a:xfrm>
            <a:off x="4297577" y="-2450291"/>
            <a:ext cx="400473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GRUNE.</a:t>
            </a:r>
          </a:p>
          <a:p>
            <a:r>
              <a:rPr lang="pt-BR" sz="1400" dirty="0"/>
              <a:t>Desenvolvida para demonstrar sua solidez, ser fria e objetiva tal SLOGAN: </a:t>
            </a:r>
            <a:r>
              <a:rPr lang="pt-BR" sz="1400" b="1" i="1" dirty="0"/>
              <a:t>DEEP PERSPECTIVE, DEEP CODE.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F26C5CF-0B85-4749-8DD4-4D9BD014A1BA}"/>
              </a:ext>
            </a:extLst>
          </p:cNvPr>
          <p:cNvSpPr txBox="1"/>
          <p:nvPr/>
        </p:nvSpPr>
        <p:spPr>
          <a:xfrm>
            <a:off x="4334934" y="-3056468"/>
            <a:ext cx="4004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DEEP PERSPECTIVE, DEEP CODE.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66FCE18-08A9-40A7-8FE6-A343AEE2368D}"/>
              </a:ext>
            </a:extLst>
          </p:cNvPr>
          <p:cNvSpPr/>
          <p:nvPr/>
        </p:nvSpPr>
        <p:spPr>
          <a:xfrm>
            <a:off x="4334934" y="-1305058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DA74BAD-275B-4736-867C-8940E82FC7A9}"/>
              </a:ext>
            </a:extLst>
          </p:cNvPr>
          <p:cNvSpPr txBox="1"/>
          <p:nvPr/>
        </p:nvSpPr>
        <p:spPr>
          <a:xfrm>
            <a:off x="4297577" y="-1210112"/>
            <a:ext cx="400473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LOGOTIPO DA BUGFARM TECH.</a:t>
            </a:r>
          </a:p>
          <a:p>
            <a:r>
              <a:rPr lang="pt-BR" sz="1400" dirty="0"/>
              <a:t>Desenvolvida em correlação ao tema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4952" y="1753161"/>
            <a:ext cx="2301377" cy="277560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F7636568-21B7-4AA0-9B29-594F38F1B7B5}"/>
              </a:ext>
            </a:extLst>
          </p:cNvPr>
          <p:cNvSpPr/>
          <p:nvPr/>
        </p:nvSpPr>
        <p:spPr>
          <a:xfrm>
            <a:off x="4253488" y="2460085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C75628-AB74-46F2-9992-5DCB19E5C6DF}"/>
              </a:ext>
            </a:extLst>
          </p:cNvPr>
          <p:cNvSpPr txBox="1"/>
          <p:nvPr/>
        </p:nvSpPr>
        <p:spPr>
          <a:xfrm>
            <a:off x="4216131" y="2555031"/>
            <a:ext cx="40047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OQUE É A BUGFARM TECH?</a:t>
            </a:r>
          </a:p>
          <a:p>
            <a:r>
              <a:rPr lang="pt-BR" sz="1400" dirty="0"/>
              <a:t>um sistema de gestão e monitoramento inteligente desenvolvido para fazendas de insetos comestíveis. O objetivo principal do projeto é unir a biotecnologia da produção de farinha </a:t>
            </a:r>
            <a:r>
              <a:rPr lang="pt-BR" sz="1400" dirty="0" err="1"/>
              <a:t>hiperproteica</a:t>
            </a:r>
            <a:r>
              <a:rPr lang="pt-BR" sz="1400" dirty="0"/>
              <a:t> com as exigências rigorosas de biossegurança e vigilância sanitária.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604CC7-25A6-452E-8640-25500578B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27183" y="1348821"/>
            <a:ext cx="8927183" cy="3862358"/>
          </a:xfrm>
          <a:prstGeom prst="rect">
            <a:avLst/>
          </a:prstGeom>
        </p:spPr>
      </p:pic>
      <p:sp>
        <p:nvSpPr>
          <p:cNvPr id="27" name="Retângulo 26">
            <a:extLst>
              <a:ext uri="{FF2B5EF4-FFF2-40B4-BE49-F238E27FC236}">
                <a16:creationId xmlns:a16="http://schemas.microsoft.com/office/drawing/2014/main" id="{689F5FA7-16F9-4270-BE76-19F08281D9EA}"/>
              </a:ext>
            </a:extLst>
          </p:cNvPr>
          <p:cNvSpPr/>
          <p:nvPr/>
        </p:nvSpPr>
        <p:spPr>
          <a:xfrm>
            <a:off x="5083491" y="6930547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0D6CEA06-731E-4760-BC00-8504D458E796}"/>
              </a:ext>
            </a:extLst>
          </p:cNvPr>
          <p:cNvSpPr txBox="1"/>
          <p:nvPr/>
        </p:nvSpPr>
        <p:spPr>
          <a:xfrm>
            <a:off x="5046134" y="7025493"/>
            <a:ext cx="400473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b="1" dirty="0"/>
              <a:t>ESTRUTURA.</a:t>
            </a:r>
          </a:p>
          <a:p>
            <a:pPr algn="r"/>
            <a:r>
              <a:rPr lang="pt-BR" sz="1400" dirty="0"/>
              <a:t>Para cobrir essa operação, estruturamos o sistema em 5 módulos principais: a tela de </a:t>
            </a:r>
            <a:r>
              <a:rPr lang="pt-BR" sz="1400" b="1" dirty="0"/>
              <a:t>Acesso/Login</a:t>
            </a:r>
            <a:r>
              <a:rPr lang="pt-BR" sz="1400" dirty="0"/>
              <a:t>, o </a:t>
            </a:r>
            <a:r>
              <a:rPr lang="pt-BR" sz="1400" b="1" dirty="0"/>
              <a:t>Cadastro e Rastreio de Lotes</a:t>
            </a:r>
            <a:r>
              <a:rPr lang="pt-BR" sz="1400" dirty="0"/>
              <a:t> (desde o nascimento), o monitoramento de sensores </a:t>
            </a:r>
            <a:r>
              <a:rPr lang="pt-BR" sz="1400" dirty="0" err="1"/>
              <a:t>IoT</a:t>
            </a:r>
            <a:r>
              <a:rPr lang="pt-BR" sz="1400" dirty="0"/>
              <a:t> na </a:t>
            </a:r>
            <a:r>
              <a:rPr lang="pt-BR" sz="1400" b="1" dirty="0"/>
              <a:t>Estufa</a:t>
            </a:r>
            <a:r>
              <a:rPr lang="pt-BR" sz="1400" dirty="0"/>
              <a:t>, o </a:t>
            </a:r>
            <a:r>
              <a:rPr lang="pt-BR" sz="1400" b="1" dirty="0"/>
              <a:t>Registro de Alimentação Diária</a:t>
            </a:r>
            <a:r>
              <a:rPr lang="pt-BR" sz="1400" dirty="0"/>
              <a:t> (o trato) e, por fim, o </a:t>
            </a:r>
            <a:r>
              <a:rPr lang="pt-BR" sz="1400" b="1" dirty="0"/>
              <a:t>Painel de Colheita e Venda</a:t>
            </a:r>
            <a:r>
              <a:rPr lang="pt-BR" sz="1400" dirty="0"/>
              <a:t>, que é onde o resultado financeiro acontece.</a:t>
            </a:r>
          </a:p>
        </p:txBody>
      </p:sp>
    </p:spTree>
    <p:extLst>
      <p:ext uri="{BB962C8B-B14F-4D97-AF65-F5344CB8AC3E}">
        <p14:creationId xmlns:p14="http://schemas.microsoft.com/office/powerpoint/2010/main" val="35201305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335">
        <p159:morph option="byObject"/>
      </p:transition>
    </mc:Choice>
    <mc:Fallback>
      <p:transition advTm="335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152" y="1753161"/>
            <a:ext cx="2301377" cy="2775600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F7636568-21B7-4AA0-9B29-594F38F1B7B5}"/>
              </a:ext>
            </a:extLst>
          </p:cNvPr>
          <p:cNvSpPr/>
          <p:nvPr/>
        </p:nvSpPr>
        <p:spPr>
          <a:xfrm>
            <a:off x="12749788" y="2460085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8C75628-AB74-46F2-9992-5DCB19E5C6DF}"/>
              </a:ext>
            </a:extLst>
          </p:cNvPr>
          <p:cNvSpPr txBox="1"/>
          <p:nvPr/>
        </p:nvSpPr>
        <p:spPr>
          <a:xfrm>
            <a:off x="12712431" y="2555031"/>
            <a:ext cx="400473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OQUE É A BUGFARM TECH?</a:t>
            </a:r>
          </a:p>
          <a:p>
            <a:r>
              <a:rPr lang="pt-BR" sz="1400" dirty="0"/>
              <a:t>um sistema de gestão e monitoramento inteligente desenvolvido para fazendas de insetos comestíveis. O objetivo principal do projeto é unir a biotecnologia da produção de farinha </a:t>
            </a:r>
            <a:r>
              <a:rPr lang="pt-BR" sz="1400" dirty="0" err="1"/>
              <a:t>hiperproteica</a:t>
            </a:r>
            <a:r>
              <a:rPr lang="pt-BR" sz="1400" dirty="0"/>
              <a:t> com as exigências rigorosas de biossegurança e vigilância sanitária.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E459EBD-1FD3-4E97-AED0-D884E34269D0}"/>
              </a:ext>
            </a:extLst>
          </p:cNvPr>
          <p:cNvSpPr/>
          <p:nvPr/>
        </p:nvSpPr>
        <p:spPr>
          <a:xfrm>
            <a:off x="5083491" y="2396647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B7A809E-A449-45E3-A60C-5545CC4BE74B}"/>
              </a:ext>
            </a:extLst>
          </p:cNvPr>
          <p:cNvSpPr txBox="1"/>
          <p:nvPr/>
        </p:nvSpPr>
        <p:spPr>
          <a:xfrm>
            <a:off x="5046134" y="2491593"/>
            <a:ext cx="400473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b="1" dirty="0"/>
              <a:t>ESTRUTURA.</a:t>
            </a:r>
          </a:p>
          <a:p>
            <a:pPr algn="r"/>
            <a:r>
              <a:rPr lang="pt-BR" sz="1400" dirty="0"/>
              <a:t>Para cobrir essa operação, estruturamos o sistema em 5 módulos principais: a tela de </a:t>
            </a:r>
            <a:r>
              <a:rPr lang="pt-BR" sz="1400" b="1" dirty="0"/>
              <a:t>Acesso/Login</a:t>
            </a:r>
            <a:r>
              <a:rPr lang="pt-BR" sz="1400" dirty="0"/>
              <a:t>, o </a:t>
            </a:r>
            <a:r>
              <a:rPr lang="pt-BR" sz="1400" b="1" dirty="0"/>
              <a:t>Cadastro e Rastreio de Lotes</a:t>
            </a:r>
            <a:r>
              <a:rPr lang="pt-BR" sz="1400" dirty="0"/>
              <a:t> (desde o nascimento), o monitoramento de sensores </a:t>
            </a:r>
            <a:r>
              <a:rPr lang="pt-BR" sz="1400" dirty="0" err="1"/>
              <a:t>IoT</a:t>
            </a:r>
            <a:r>
              <a:rPr lang="pt-BR" sz="1400" dirty="0"/>
              <a:t> na </a:t>
            </a:r>
            <a:r>
              <a:rPr lang="pt-BR" sz="1400" b="1" dirty="0"/>
              <a:t>Estufa</a:t>
            </a:r>
            <a:r>
              <a:rPr lang="pt-BR" sz="1400" dirty="0"/>
              <a:t>, o </a:t>
            </a:r>
            <a:r>
              <a:rPr lang="pt-BR" sz="1400" b="1" dirty="0"/>
              <a:t>Registro de Alimentação Diária</a:t>
            </a:r>
            <a:r>
              <a:rPr lang="pt-BR" sz="1400" dirty="0"/>
              <a:t> (o trato) e, por fim, o </a:t>
            </a:r>
            <a:r>
              <a:rPr lang="pt-BR" sz="1400" b="1" dirty="0"/>
              <a:t>Painel de Colheita e Venda</a:t>
            </a:r>
            <a:r>
              <a:rPr lang="pt-BR" sz="1400" dirty="0"/>
              <a:t>, que é onde o resultado financeiro acontece.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604CC7-25A6-452E-8640-25500578B1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93757" y="0"/>
            <a:ext cx="15851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138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398">
        <p159:morph option="byObject"/>
      </p:transition>
    </mc:Choice>
    <mc:Fallback>
      <p:transition advTm="398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7E459EBD-1FD3-4E97-AED0-D884E34269D0}"/>
              </a:ext>
            </a:extLst>
          </p:cNvPr>
          <p:cNvSpPr/>
          <p:nvPr/>
        </p:nvSpPr>
        <p:spPr>
          <a:xfrm>
            <a:off x="13008291" y="2396647"/>
            <a:ext cx="3930018" cy="4571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B7A809E-A449-45E3-A60C-5545CC4BE74B}"/>
              </a:ext>
            </a:extLst>
          </p:cNvPr>
          <p:cNvSpPr txBox="1"/>
          <p:nvPr/>
        </p:nvSpPr>
        <p:spPr>
          <a:xfrm>
            <a:off x="12970934" y="2491593"/>
            <a:ext cx="400473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000" b="1" dirty="0"/>
              <a:t>ESTRUTURA.</a:t>
            </a:r>
          </a:p>
          <a:p>
            <a:pPr algn="r"/>
            <a:r>
              <a:rPr lang="pt-BR" sz="1400" dirty="0"/>
              <a:t>Para cobrir essa operação, estruturamos o sistema em 5 módulos principais: a tela de </a:t>
            </a:r>
            <a:r>
              <a:rPr lang="pt-BR" sz="1400" b="1" dirty="0"/>
              <a:t>Acesso/Login</a:t>
            </a:r>
            <a:r>
              <a:rPr lang="pt-BR" sz="1400" dirty="0"/>
              <a:t>, o </a:t>
            </a:r>
            <a:r>
              <a:rPr lang="pt-BR" sz="1400" b="1" dirty="0"/>
              <a:t>Cadastro e Rastreio de Lotes</a:t>
            </a:r>
            <a:r>
              <a:rPr lang="pt-BR" sz="1400" dirty="0"/>
              <a:t> (desde o nascimento), o monitoramento de sensores </a:t>
            </a:r>
            <a:r>
              <a:rPr lang="pt-BR" sz="1400" dirty="0" err="1"/>
              <a:t>IoT</a:t>
            </a:r>
            <a:r>
              <a:rPr lang="pt-BR" sz="1400" dirty="0"/>
              <a:t> na </a:t>
            </a:r>
            <a:r>
              <a:rPr lang="pt-BR" sz="1400" b="1" dirty="0"/>
              <a:t>Estufa</a:t>
            </a:r>
            <a:r>
              <a:rPr lang="pt-BR" sz="1400" dirty="0"/>
              <a:t>, o </a:t>
            </a:r>
            <a:r>
              <a:rPr lang="pt-BR" sz="1400" b="1" dirty="0"/>
              <a:t>Registro de Alimentação Diária</a:t>
            </a:r>
            <a:r>
              <a:rPr lang="pt-BR" sz="1400" dirty="0"/>
              <a:t> (o trato) e, por fim, o </a:t>
            </a:r>
            <a:r>
              <a:rPr lang="pt-BR" sz="1400" b="1" dirty="0"/>
              <a:t>Painel de Colheita e Venda</a:t>
            </a:r>
            <a:r>
              <a:rPr lang="pt-BR" sz="1400" dirty="0"/>
              <a:t>, que é onde o resultado financeiro acontece.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604CC7-25A6-452E-8640-25500578B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23" y="533028"/>
            <a:ext cx="11141153" cy="579194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6149" y="935965"/>
            <a:ext cx="866652" cy="1045235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766FD1E-16B8-46BC-A570-62A8933B77F4}"/>
              </a:ext>
            </a:extLst>
          </p:cNvPr>
          <p:cNvSpPr txBox="1"/>
          <p:nvPr/>
        </p:nvSpPr>
        <p:spPr>
          <a:xfrm>
            <a:off x="4874684" y="7047454"/>
            <a:ext cx="4004732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b="1" dirty="0"/>
              <a:t>REGRA DE NEGOCIO.</a:t>
            </a:r>
          </a:p>
          <a:p>
            <a:r>
              <a:rPr lang="pt-BR" sz="1400" dirty="0"/>
              <a:t>O grande diferencial do software é a sua </a:t>
            </a:r>
            <a:r>
              <a:rPr lang="pt-BR" sz="1400" b="1" dirty="0"/>
              <a:t>Camada de Negócio</a:t>
            </a:r>
            <a:r>
              <a:rPr lang="pt-BR" sz="1400" dirty="0"/>
              <a:t>. Um lote de insetos nunca pode ser colhido deliberadamente pelo operador. O sistema aplica uma validação lógica estrita (uma porta E lógica): </a:t>
            </a:r>
            <a:r>
              <a:rPr lang="pt-BR" sz="1400" b="1" dirty="0"/>
              <a:t>é obrigatório que tenham se passado exatamente 45 dias desde a eclosão dos ovos</a:t>
            </a:r>
            <a:r>
              <a:rPr lang="pt-BR" sz="1400" dirty="0"/>
              <a:t> E que a </a:t>
            </a:r>
            <a:r>
              <a:rPr lang="pt-BR" sz="1400" b="1" dirty="0"/>
              <a:t>média de temperatura dos últimos 10 dias não tenha ficado abaixo de 25°C</a:t>
            </a:r>
            <a:r>
              <a:rPr lang="pt-BR" sz="1400" dirty="0"/>
              <a:t>. Se a temperatura cair, o sistema barra a colheita por risco biológico, protegendo a saúde do consumidor.</a:t>
            </a:r>
          </a:p>
        </p:txBody>
      </p:sp>
    </p:spTree>
    <p:extLst>
      <p:ext uri="{BB962C8B-B14F-4D97-AF65-F5344CB8AC3E}">
        <p14:creationId xmlns:p14="http://schemas.microsoft.com/office/powerpoint/2010/main" val="1941235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316">
        <p159:morph option="byObject"/>
      </p:transition>
    </mc:Choice>
    <mc:Fallback>
      <p:transition advTm="31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7604CC7-25A6-452E-8640-25500578B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22" y="7165891"/>
            <a:ext cx="11141153" cy="579194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509" y="1180312"/>
            <a:ext cx="3728978" cy="449737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4341C1F-9586-4007-A54B-E9B80595475B}"/>
              </a:ext>
            </a:extLst>
          </p:cNvPr>
          <p:cNvSpPr txBox="1"/>
          <p:nvPr/>
        </p:nvSpPr>
        <p:spPr>
          <a:xfrm>
            <a:off x="4093633" y="2151727"/>
            <a:ext cx="4004732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b="1" dirty="0"/>
              <a:t>REGRA DE NEGOCIO.</a:t>
            </a:r>
          </a:p>
          <a:p>
            <a:r>
              <a:rPr lang="pt-BR" sz="1400" dirty="0"/>
              <a:t>O grande diferencial do software é a sua </a:t>
            </a:r>
            <a:r>
              <a:rPr lang="pt-BR" sz="1400" b="1" dirty="0"/>
              <a:t>Camada de Negócio</a:t>
            </a:r>
            <a:r>
              <a:rPr lang="pt-BR" sz="1400" dirty="0"/>
              <a:t>. Um lote de insetos nunca pode ser colhido deliberadamente pelo operador. O sistema aplica uma validação lógica estrita (uma porta E lógica): </a:t>
            </a:r>
            <a:r>
              <a:rPr lang="pt-BR" sz="1400" b="1" dirty="0"/>
              <a:t>é obrigatório que tenham se passado exatamente 45 dias desde a eclosão dos ovos</a:t>
            </a:r>
            <a:r>
              <a:rPr lang="pt-BR" sz="1400" dirty="0"/>
              <a:t> E que a </a:t>
            </a:r>
            <a:r>
              <a:rPr lang="pt-BR" sz="1400" b="1" dirty="0"/>
              <a:t>média de temperatura dos últimos 10 dias não tenha ficado abaixo de 25°C</a:t>
            </a:r>
            <a:r>
              <a:rPr lang="pt-BR" sz="1400" dirty="0"/>
              <a:t>. Se a temperatura cair, o sistema barra a colheita por risco biológico, protegendo a saúde do consumidor.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B643F1F-657A-4221-B21D-C6150A0CB574}"/>
              </a:ext>
            </a:extLst>
          </p:cNvPr>
          <p:cNvSpPr txBox="1"/>
          <p:nvPr/>
        </p:nvSpPr>
        <p:spPr>
          <a:xfrm>
            <a:off x="4347634" y="6811948"/>
            <a:ext cx="400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BUG FARM TECH</a:t>
            </a:r>
          </a:p>
        </p:txBody>
      </p:sp>
    </p:spTree>
    <p:extLst>
      <p:ext uri="{BB962C8B-B14F-4D97-AF65-F5344CB8AC3E}">
        <p14:creationId xmlns:p14="http://schemas.microsoft.com/office/powerpoint/2010/main" val="27590268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32">
        <p159:morph option="byObject"/>
      </p:transition>
    </mc:Choice>
    <mc:Fallback>
      <p:transition advTm="3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78AE83-7E87-400D-B7E2-1BF88C64F1DF}"/>
              </a:ext>
            </a:extLst>
          </p:cNvPr>
          <p:cNvSpPr/>
          <p:nvPr/>
        </p:nvSpPr>
        <p:spPr>
          <a:xfrm>
            <a:off x="-587453" y="-172455"/>
            <a:ext cx="12899681" cy="7649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604CC7-25A6-452E-8640-25500578B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22" y="7165891"/>
            <a:ext cx="11141153" cy="5791944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5127" y="1040612"/>
            <a:ext cx="3001746" cy="362028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4341C1F-9586-4007-A54B-E9B80595475B}"/>
              </a:ext>
            </a:extLst>
          </p:cNvPr>
          <p:cNvSpPr txBox="1"/>
          <p:nvPr/>
        </p:nvSpPr>
        <p:spPr>
          <a:xfrm>
            <a:off x="4093633" y="-4020473"/>
            <a:ext cx="4004732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b="1" dirty="0"/>
              <a:t>REGRA DE NEGOCIO.</a:t>
            </a:r>
          </a:p>
          <a:p>
            <a:r>
              <a:rPr lang="pt-BR" sz="1400" dirty="0"/>
              <a:t>O grande diferencial do software é a sua </a:t>
            </a:r>
            <a:r>
              <a:rPr lang="pt-BR" sz="1400" b="1" dirty="0"/>
              <a:t>Camada de Negócio</a:t>
            </a:r>
            <a:r>
              <a:rPr lang="pt-BR" sz="1400" dirty="0"/>
              <a:t>. Um lote de insetos nunca pode ser colhido deliberadamente pelo operador. O sistema aplica uma validação lógica estrita (uma porta E lógica): </a:t>
            </a:r>
            <a:r>
              <a:rPr lang="pt-BR" sz="1400" b="1" dirty="0"/>
              <a:t>é obrigatório que tenham se passado exatamente 45 dias desde a eclosão dos ovos</a:t>
            </a:r>
            <a:r>
              <a:rPr lang="pt-BR" sz="1400" dirty="0"/>
              <a:t> E que a </a:t>
            </a:r>
            <a:r>
              <a:rPr lang="pt-BR" sz="1400" b="1" dirty="0"/>
              <a:t>média de temperatura dos últimos 10 dias não tenha ficado abaixo de 25°C</a:t>
            </a:r>
            <a:r>
              <a:rPr lang="pt-BR" sz="1400" dirty="0"/>
              <a:t>. Se a temperatura cair, o sistema barra a colheita por risco biológico, protegendo a saúde do consumidor.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943B5A1-2F31-481F-86F3-0D4EE0DB7A65}"/>
              </a:ext>
            </a:extLst>
          </p:cNvPr>
          <p:cNvSpPr txBox="1"/>
          <p:nvPr/>
        </p:nvSpPr>
        <p:spPr>
          <a:xfrm>
            <a:off x="4093634" y="4983148"/>
            <a:ext cx="400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BUG FARM TECH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E7165499-90F1-411A-B52B-832AE52E5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46469" y="7317600"/>
            <a:ext cx="1003187" cy="52667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B446AD89-D1F4-49E6-A8AE-15255B0C79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494704" y="7394484"/>
            <a:ext cx="919381" cy="45969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1CEBAD05-58D8-4F27-876A-7D22D4C174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566284" y="7305262"/>
            <a:ext cx="1003187" cy="548913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DE5F141-8F3D-4F6A-8AD7-44D2A77743D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3665269" y="7307595"/>
            <a:ext cx="519285" cy="519285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3016FAE-3B3E-4D4A-B482-9EDF36BBF0D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11036300" y="7325470"/>
            <a:ext cx="402491" cy="40249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09DEF33A-DD2B-4675-85E0-7BA22B8911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11532148" y="7381929"/>
            <a:ext cx="313383" cy="31338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6A468B3-4625-44A2-B20B-2CB7A32B4B4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10643313" y="7317600"/>
            <a:ext cx="266765" cy="3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11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508">
        <p159:morph option="byObject"/>
      </p:transition>
    </mc:Choice>
    <mc:Fallback>
      <p:transition advTm="508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678AE83-7E87-400D-B7E2-1BF88C64F1DF}"/>
              </a:ext>
            </a:extLst>
          </p:cNvPr>
          <p:cNvSpPr/>
          <p:nvPr/>
        </p:nvSpPr>
        <p:spPr>
          <a:xfrm>
            <a:off x="3429816" y="8860260"/>
            <a:ext cx="4829280" cy="49737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5C138BE-CEFE-4267-8CFC-F2BC88364B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482" y="9854724"/>
            <a:ext cx="2455947" cy="296202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4341C1F-9586-4007-A54B-E9B80595475B}"/>
              </a:ext>
            </a:extLst>
          </p:cNvPr>
          <p:cNvSpPr txBox="1"/>
          <p:nvPr/>
        </p:nvSpPr>
        <p:spPr>
          <a:xfrm>
            <a:off x="4093633" y="-4020473"/>
            <a:ext cx="4004732" cy="25545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BR" sz="2000" b="1" dirty="0"/>
              <a:t>REGRA DE NEGOCIO.</a:t>
            </a:r>
          </a:p>
          <a:p>
            <a:r>
              <a:rPr lang="pt-BR" sz="1400" dirty="0"/>
              <a:t>O grande diferencial do software é a sua </a:t>
            </a:r>
            <a:r>
              <a:rPr lang="pt-BR" sz="1400" b="1" dirty="0"/>
              <a:t>Camada de Negócio</a:t>
            </a:r>
            <a:r>
              <a:rPr lang="pt-BR" sz="1400" dirty="0"/>
              <a:t>. Um lote de insetos nunca pode ser colhido deliberadamente pelo operador. O sistema aplica uma validação lógica estrita (uma porta E lógica): </a:t>
            </a:r>
            <a:r>
              <a:rPr lang="pt-BR" sz="1400" b="1" dirty="0"/>
              <a:t>é obrigatório que tenham se passado exatamente 45 dias desde a eclosão dos ovos</a:t>
            </a:r>
            <a:r>
              <a:rPr lang="pt-BR" sz="1400" dirty="0"/>
              <a:t> E que a </a:t>
            </a:r>
            <a:r>
              <a:rPr lang="pt-BR" sz="1400" b="1" dirty="0"/>
              <a:t>média de temperatura dos últimos 10 dias não tenha ficado abaixo de 25°C</a:t>
            </a:r>
            <a:r>
              <a:rPr lang="pt-BR" sz="1400" dirty="0"/>
              <a:t>. Se a temperatura cair, o sistema barra a colheita por risco biológico, protegendo a saúde do consumidor.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943B5A1-2F31-481F-86F3-0D4EE0DB7A65}"/>
              </a:ext>
            </a:extLst>
          </p:cNvPr>
          <p:cNvSpPr txBox="1"/>
          <p:nvPr/>
        </p:nvSpPr>
        <p:spPr>
          <a:xfrm>
            <a:off x="3932767" y="13585311"/>
            <a:ext cx="4004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BUG FARM TECH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42D493B-62F7-4534-B7BB-5A15E955C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46469" y="6123800"/>
            <a:ext cx="1003187" cy="52667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EB14D57-A216-495B-8B31-814FE377C7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494704" y="6200684"/>
            <a:ext cx="919381" cy="45969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4420EC0-6FDF-4861-B755-2227AD3A6E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2566284" y="6111462"/>
            <a:ext cx="1003187" cy="54891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38B04ED6-8A2F-4CE7-98C2-DE54CDD7444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3665269" y="6113795"/>
            <a:ext cx="519285" cy="51928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717F725-A482-4302-A11F-3BC6E23C97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036300" y="6131670"/>
            <a:ext cx="402491" cy="402491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8A039E30-1077-4DEF-9160-241B2C0FDE2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1532148" y="6188129"/>
            <a:ext cx="313383" cy="313383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7A3C47DB-25D4-4816-9014-CDCB8746AE4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10643313" y="6123800"/>
            <a:ext cx="266765" cy="379400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DC244709-D640-4135-A54E-4203537869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652" y="1831105"/>
            <a:ext cx="2811600" cy="2777218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279AF286-E60B-45C0-A003-98B59256DF18}"/>
              </a:ext>
            </a:extLst>
          </p:cNvPr>
          <p:cNvSpPr txBox="1"/>
          <p:nvPr/>
        </p:nvSpPr>
        <p:spPr>
          <a:xfrm>
            <a:off x="5977252" y="2689306"/>
            <a:ext cx="40047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/>
              <a:t>GRUNE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8867129-79EA-4E82-BA26-6C98152CBCCC}"/>
              </a:ext>
            </a:extLst>
          </p:cNvPr>
          <p:cNvSpPr txBox="1"/>
          <p:nvPr/>
        </p:nvSpPr>
        <p:spPr>
          <a:xfrm>
            <a:off x="5977252" y="3551080"/>
            <a:ext cx="4004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DEEP PERSPECTIVE, DEEP CODE.</a:t>
            </a:r>
          </a:p>
        </p:txBody>
      </p:sp>
    </p:spTree>
    <p:extLst>
      <p:ext uri="{BB962C8B-B14F-4D97-AF65-F5344CB8AC3E}">
        <p14:creationId xmlns:p14="http://schemas.microsoft.com/office/powerpoint/2010/main" val="3649614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400" advTm="466">
        <p159:morph option="byObject"/>
      </p:transition>
    </mc:Choice>
    <mc:Fallback>
      <p:transition advTm="466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876</Words>
  <Application>Microsoft Office PowerPoint</Application>
  <PresentationFormat>Widescreen</PresentationFormat>
  <Paragraphs>54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 SENAI - AREIAS</dc:creator>
  <cp:lastModifiedBy>Aluno SENAI - AREIAS</cp:lastModifiedBy>
  <cp:revision>9</cp:revision>
  <dcterms:created xsi:type="dcterms:W3CDTF">2026-06-25T21:49:03Z</dcterms:created>
  <dcterms:modified xsi:type="dcterms:W3CDTF">2026-06-25T23:45:05Z</dcterms:modified>
</cp:coreProperties>
</file>